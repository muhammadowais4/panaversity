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2195A"/>
          </a:solidFill>
          <a:ln w="12700">
            <a:solidFill>
              <a:srgbClr val="1219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CADCFC"/>
                </a:solidFill>
              </a:rPr>
              <a:t>AI-101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Introduction to Artificial Intelligence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&amp; Prompt Engineering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0" y="2103120"/>
            <a:ext cx="2743200" cy="3657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Panaversity Orientation Lecture — Summary Slides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Prepared by: M. Owais  |  Tool: Claude (Anthropic)  |  June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FDB"/>
                </a:solidFill>
              </a:rPr>
              <a:t>📍 How to Use These Slides: Each slide was generated by providing the orientation lecture video to Claude and using iterative prompts to extract, structure, and format the content.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D9"/>
                </a:solidFill>
              </a:rPr>
              <a:t>MODULE 1: FOUNDATIONS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What is Artificial Intelligence?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2296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435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Traditional Software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Humans write explicit rules. The computer follows those exact rules. Output is deterministic.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132588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1435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Machine Learning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The system learns patterns from data. Rules emerge automatically from examples.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32588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1435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Large Language Models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8288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Trained on vast text data. Predict the most useful next token given context.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3154680"/>
            <a:ext cx="859536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Insight: LLMs do not 'know' facts — they model the statistical relationships between tokens across billions of text examples.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D9"/>
                </a:solidFill>
              </a:rPr>
              <a:t>MODULE 2: PROMPT ENGINEERING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Why Prompting Matters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73152" cy="8229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The Prompt is the Interface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18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Unlike traditional software, you interact with AI entirely through language. The quality of your language determines the quality of output.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73152" cy="8229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Same Model, Different Results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7157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The exact same LLM produces radically different outputs depending on how a question is phrased. Prompting is a leverage point.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429000"/>
            <a:ext cx="73152" cy="8229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Prompting is a Professional Skill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813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In 2026, prompt engineering is as fundamental as knowing how to use a search engine was in 2005. It is a core literacy skill.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D9"/>
                </a:solidFill>
              </a:rPr>
              <a:t>MODULE 2: PROMPT ENGINEERING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Core Prompting Techniques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98448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🎭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Role Assignment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"Act as a senior data scientist..." sets domain expertise, vocabulary, and depth.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298448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66360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Few-Shot Examples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1737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Provide 2-3 input/output pairs inside the prompt to define the exact format and style required.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468880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2542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Chain-of-Thought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9077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"Think step by step" improves accuracy on reasoning tasks by externalizing the logic process.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2468880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66360" y="2542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Format Specification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29077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Specify output format explicitly: JSON, markdown table, numbered list, max 200 words.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639312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🚧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7240" y="37124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Constraint Setting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0782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Add negative constraints: "do not use jargon", "no introductory paragraph", "code only".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3639312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166360" y="37124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Iterative Refinement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40782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Treat prompting as a conversation. Each response is feedback for the next improved prompt.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D9"/>
                </a:solidFill>
              </a:rPr>
              <a:t>MODULE 2: PROMPT ENGINEERING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Anatomy of a Strong Prompt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1280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ROLE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1298448"/>
            <a:ext cx="722376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34416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Act as a senior Python developer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1280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65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CONTEXT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54480" y="1965960"/>
            <a:ext cx="7223760" cy="502920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20116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478A"/>
                </a:solidFill>
              </a:rPr>
              <a:t>I am building a REST API for an e-commerce app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1280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334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TASK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54480" y="2633472"/>
            <a:ext cx="7223760" cy="502920"/>
          </a:xfrm>
          <a:prstGeom prst="rect">
            <a:avLst/>
          </a:prstGeom>
          <a:solidFill>
            <a:srgbClr val="E6F9EE"/>
          </a:solidFill>
          <a:ln w="12700">
            <a:solidFill>
              <a:srgbClr val="E6F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267919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6B3A"/>
                </a:solidFill>
              </a:rPr>
              <a:t>Write a function that validates a product's price field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00984"/>
            <a:ext cx="1280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30098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FORMAT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554480" y="3300984"/>
            <a:ext cx="7223760" cy="502920"/>
          </a:xfrm>
          <a:prstGeom prst="rect">
            <a:avLst/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3346704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3B00"/>
                </a:solidFill>
              </a:rPr>
              <a:t>Return only the Python function with type hints and a docstring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968496"/>
            <a:ext cx="1280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6849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CONSTRAINT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554480" y="3968496"/>
            <a:ext cx="722376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4014216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001A"/>
                </a:solidFill>
              </a:rPr>
              <a:t>Do not use external libraries. Max 20 lines.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D9"/>
                </a:solidFill>
              </a:rPr>
              <a:t>MODULE 3: UNDERSTANDING LLMS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Types of AI Models (2026)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2296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4356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General-Purpose LLMs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Models like Claude, GPT-4, and Gemini. Trained broadly. Best for reasoning, writing, coding, and conversation.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13258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14356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Domain-Specific Models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Fine-tuned for specific fields: medical, legal, financial. Higher accuracy in narrow domains, less flexible.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3258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14356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Multimodal Models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8288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Can process and generate text, images, audio, and video together. Examples: GPT-4o, Claude 3.5.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85953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703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📌  Orientation Key Point: Choose your model based on the task. General LLMs excel at open-ended prompting and reasoning. Specialized models outperform on their domain.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Large Language Models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0" y="1051560"/>
            <a:ext cx="2743200" cy="3657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4114800" cy="1417320"/>
          </a:xfrm>
          <a:prstGeom prst="roundRect">
            <a:avLst>
              <a:gd name="adj" fmla="val 4516"/>
            </a:avLst>
          </a:prstGeom>
          <a:solidFill>
            <a:srgbClr val="162056"/>
          </a:solidFill>
          <a:ln w="6350">
            <a:solidFill>
              <a:srgbClr val="2E4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Tokenization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FDB"/>
                </a:solidFill>
              </a:rPr>
              <a:t>Input text is split into tokens (words/subwords). 'Unbelievable' → ['Un','believ','able']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114800" cy="1417320"/>
          </a:xfrm>
          <a:prstGeom prst="roundRect">
            <a:avLst>
              <a:gd name="adj" fmla="val 4516"/>
            </a:avLst>
          </a:prstGeom>
          <a:solidFill>
            <a:srgbClr val="162056"/>
          </a:solidFill>
          <a:ln w="6350">
            <a:solidFill>
              <a:srgbClr val="2E4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417320"/>
            <a:ext cx="54864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Context Window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78308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FDB"/>
                </a:solidFill>
              </a:rPr>
              <a:t>The model reads all tokens in context simultaneously. Modern models handle 128K–1M tokens.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114800" cy="1417320"/>
          </a:xfrm>
          <a:prstGeom prst="roundRect">
            <a:avLst>
              <a:gd name="adj" fmla="val 4516"/>
            </a:avLst>
          </a:prstGeom>
          <a:solidFill>
            <a:srgbClr val="162056"/>
          </a:solidFill>
          <a:ln w="6350">
            <a:solidFill>
              <a:srgbClr val="2E4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063240"/>
            <a:ext cx="54864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35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Attention Mechanism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42900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FDB"/>
                </a:solidFill>
              </a:rPr>
              <a:t>Transformer attention layers weigh relationships between all tokens to build meaning.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14800" cy="1417320"/>
          </a:xfrm>
          <a:prstGeom prst="roundRect">
            <a:avLst>
              <a:gd name="adj" fmla="val 4516"/>
            </a:avLst>
          </a:prstGeom>
          <a:solidFill>
            <a:srgbClr val="162056"/>
          </a:solidFill>
          <a:ln w="6350">
            <a:solidFill>
              <a:srgbClr val="2E4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063240"/>
            <a:ext cx="54864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035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Token Prediction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42900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FDB"/>
                </a:solidFill>
              </a:rPr>
              <a:t>The model outputs probability distributions over vocabulary. The highest-probability token is selected.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CC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D9"/>
                </a:solidFill>
              </a:rPr>
              <a:t>MODULE 4: LIMITATIONS &amp; BEST PRACTICES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Understanding AI Limitations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4114800" cy="1417320"/>
          </a:xfrm>
          <a:prstGeom prst="roundRect">
            <a:avLst>
              <a:gd name="adj" fmla="val 4516"/>
            </a:avLst>
          </a:prstGeom>
          <a:solidFill>
            <a:srgbClr val="FFE4E4"/>
          </a:solidFill>
          <a:ln w="12700">
            <a:solidFill>
              <a:srgbClr val="FFE4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356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4356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</a:rPr>
              <a:t>Hallucinations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9280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LLMs generate plausible-sounding but false information. They do not 'know' facts — they model statistical patterns.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114800" cy="1417320"/>
          </a:xfrm>
          <a:prstGeom prst="roundRect">
            <a:avLst>
              <a:gd name="adj" fmla="val 4516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356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57800" y="14356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000"/>
                </a:solidFill>
              </a:rPr>
              <a:t>Knowledge Cutoff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89280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Training data has a cutoff date. Models are unaware of recent events unless given real-time tools.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926080"/>
            <a:ext cx="4114800" cy="1417320"/>
          </a:xfrm>
          <a:prstGeom prst="roundRect">
            <a:avLst>
              <a:gd name="adj" fmla="val 4516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358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3035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2A"/>
                </a:solidFill>
              </a:rPr>
              <a:t>Math Weakness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49300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LLMs are poor at arithmetic without a code interpreter. Always verify numerical outputs.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114800" cy="1417320"/>
          </a:xfrm>
          <a:prstGeom prst="roundRect">
            <a:avLst>
              <a:gd name="adj" fmla="val 4516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0358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57800" y="3035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Context Limits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49300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Very long conversations can cause earlier context to be 'forgotten' or given less attention.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D9"/>
                </a:solidFill>
              </a:rPr>
              <a:t>MODULE 5: TOOLS &amp; ECOSYSTEM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AI Tools Landscape in 2026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Claude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(Anthropic)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0136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Reasoning, coding, long-context analysis, writing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98448"/>
            <a:ext cx="2743200" cy="45720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ChatGPT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(OpenAI)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755648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80136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Broad tasks, plugins, DALL-E image gen, wide adoption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298448"/>
            <a:ext cx="2743200" cy="4572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Gemini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(Google)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755648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80136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Google integrations, multimodal, search-connected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2743200" cy="45720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Llama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(Meta)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29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Open-source, self-hostable, fine-tuning flexibility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Mistral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(EU)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383280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429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Efficient, fast inference, European AI sovereignty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743200" cy="457200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(xAI)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383280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429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Real-time web access, X/Twitter integration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D9"/>
                </a:solidFill>
              </a:rPr>
              <a:t>MODULE 6: PRACTICAL 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Effective AI Workflow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3075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07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2893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Define the Goal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What exact output do you need? Who is the audience? What format?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1709928"/>
            <a:ext cx="73152" cy="320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0665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066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Write the First Prompt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377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Include: role + context + task + format + constraints. Be specific.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468880"/>
            <a:ext cx="73152" cy="320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8254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807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Evaluate the 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1363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Does it meet the spec? Where does it fall short? What is missing?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227832"/>
            <a:ext cx="73152" cy="320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58444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584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Refine Iteratively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89534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Adjust one variable at a time. Add examples if format is wrong. Add constraints if scope is too broad.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3986784"/>
            <a:ext cx="73152" cy="320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34340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4325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Validate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465429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Cross-check facts. Test code. Read for consistency. AI output is a draft, not a final product.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D9"/>
                </a:solidFill>
              </a:rPr>
              <a:t>PROCESS DOCUMENTATION — TASK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How These Slides Were Created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2296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1005840" cy="749808"/>
          </a:xfrm>
          <a:prstGeom prst="rect">
            <a:avLst>
              <a:gd name="adj" fmla="val 73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2588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4173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Provided the Panaversity orientation lecture YouTube video URL to Claude and asked it to summarize the key topics covered.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94560"/>
            <a:ext cx="1005840" cy="749808"/>
          </a:xfrm>
          <a:prstGeom prst="rect">
            <a:avLst>
              <a:gd name="adj" fmla="val 7317"/>
            </a:avLst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9456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228600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Used prompt: "Extract the main topics from this lecture and organize them into 8-10 slide titles with a logical flow."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63240"/>
            <a:ext cx="1005840" cy="749808"/>
          </a:xfrm>
          <a:prstGeom prst="rect">
            <a:avLst>
              <a:gd name="adj" fmla="val 7317"/>
            </a:avLst>
          </a:prstGeom>
          <a:solidFill>
            <a:srgbClr val="28478A"/>
          </a:solidFill>
          <a:ln w="12700">
            <a:solidFill>
              <a:srgbClr val="2847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6324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31546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Refined per slide: "For each topic, write 3-4 bullet points at a level appropriate for a beginner student."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D8E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31920"/>
            <a:ext cx="1005840" cy="749808"/>
          </a:xfrm>
          <a:prstGeom prst="rect">
            <a:avLst>
              <a:gd name="adj" fmla="val 7317"/>
            </a:avLst>
          </a:prstGeom>
          <a:solidFill>
            <a:srgbClr val="7A3B00"/>
          </a:solidFill>
          <a:ln w="12700">
            <a:solidFill>
              <a:srgbClr val="7A3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3192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40233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Final prompt: "Format all content as a professional presentation. Use a Midnight Executive color theme with navy, ice blue, and white."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AI Tool Used: Claude (Anthropic) — claude.ai  |  Prompts refined across 4 iterations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969264"/>
            <a:ext cx="2743200" cy="3657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347472" cy="347472"/>
          </a:xfrm>
          <a:prstGeom prst="rect">
            <a:avLst/>
          </a:prstGeom>
          <a:solidFill>
            <a:srgbClr val="162056"/>
          </a:solidFill>
          <a:ln w="12700">
            <a:solidFill>
              <a:srgbClr val="1620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1704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AI does not think — it predicts. Understanding this changes how you prompt.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92224"/>
            <a:ext cx="347472" cy="347472"/>
          </a:xfrm>
          <a:prstGeom prst="rect">
            <a:avLst/>
          </a:prstGeom>
          <a:solidFill>
            <a:srgbClr val="162056"/>
          </a:solidFill>
          <a:ln w="12700">
            <a:solidFill>
              <a:srgbClr val="1620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92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✍️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79222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Prompting is a skill. Specificity, structure, and iteration are your tools.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14016"/>
            <a:ext cx="347472" cy="347472"/>
          </a:xfrm>
          <a:prstGeom prst="rect">
            <a:avLst/>
          </a:prstGeom>
          <a:solidFill>
            <a:srgbClr val="162056"/>
          </a:solidFill>
          <a:ln w="12700">
            <a:solidFill>
              <a:srgbClr val="1620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14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41401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No prompt is perfect on the first try. Iteration is the workflow, not the exception.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35808"/>
            <a:ext cx="347472" cy="347472"/>
          </a:xfrm>
          <a:prstGeom prst="rect">
            <a:avLst/>
          </a:prstGeom>
          <a:solidFill>
            <a:srgbClr val="162056"/>
          </a:solidFill>
          <a:ln w="12700">
            <a:solidFill>
              <a:srgbClr val="1620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35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0358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AI amplifies capability but does not replace critical thinking or verification.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657600"/>
            <a:ext cx="347472" cy="347472"/>
          </a:xfrm>
          <a:prstGeom prst="rect">
            <a:avLst/>
          </a:prstGeom>
          <a:solidFill>
            <a:srgbClr val="162056"/>
          </a:solidFill>
          <a:ln w="12700">
            <a:solidFill>
              <a:srgbClr val="1620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57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65760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The Panaversity AI-101 course equips you to build real AI-powered applications.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Thank you  —  M. Owais  |  Panaversity AI-101  |  June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AI-101 Orientation Lecture — Slides</dc:title>
  <dc:subject>PptxGenJS Presentation</dc:subject>
  <dc:creator>M. Owais</dc:creator>
  <cp:lastModifiedBy>M. Owais</cp:lastModifiedBy>
  <cp:revision>1</cp:revision>
  <dcterms:created xsi:type="dcterms:W3CDTF">2026-06-08T11:32:37Z</dcterms:created>
  <dcterms:modified xsi:type="dcterms:W3CDTF">2026-06-08T11:32:37Z</dcterms:modified>
</cp:coreProperties>
</file>